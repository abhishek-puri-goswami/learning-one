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B2545"/>
                </a:solidFill>
                <a:latin typeface="Calibri"/>
              </a:rPr>
              <a:t>Outcome counts across margin thresholds (n=6 labeled queries)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Correctly answered</c:v>
                </c:pt>
              </c:strCache>
            </c:strRef>
          </c:tx>
          <c:spPr>
            <a:solidFill>
              <a:srgbClr val="58C4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0.000</c:v>
                  </c:pt>
                  <c:pt idx="1">
                    <c:v>0.005</c:v>
                  </c:pt>
                  <c:pt idx="2">
                    <c:v>0.010</c:v>
                  </c:pt>
                  <c:pt idx="3">
                    <c:v>0.015</c:v>
                  </c:pt>
                  <c:pt idx="4">
                    <c:v>0.020</c:v>
                  </c:pt>
                  <c:pt idx="5">
                    <c:v>0.030</c:v>
                  </c:pt>
                  <c:pt idx="6">
                    <c:v>0.050</c:v>
                  </c:pt>
                  <c:pt idx="7">
                    <c:v>0.080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Correctly blocked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0.000</c:v>
                  </c:pt>
                  <c:pt idx="1">
                    <c:v>0.005</c:v>
                  </c:pt>
                  <c:pt idx="2">
                    <c:v>0.010</c:v>
                  </c:pt>
                  <c:pt idx="3">
                    <c:v>0.015</c:v>
                  </c:pt>
                  <c:pt idx="4">
                    <c:v>0.020</c:v>
                  </c:pt>
                  <c:pt idx="5">
                    <c:v>0.030</c:v>
                  </c:pt>
                  <c:pt idx="6">
                    <c:v>0.050</c:v>
                  </c:pt>
                  <c:pt idx="7">
                    <c:v>0.080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Errors (blocked or answered wrongly)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0.000</c:v>
                  </c:pt>
                  <c:pt idx="1">
                    <c:v>0.005</c:v>
                  </c:pt>
                  <c:pt idx="2">
                    <c:v>0.010</c:v>
                  </c:pt>
                  <c:pt idx="3">
                    <c:v>0.015</c:v>
                  </c:pt>
                  <c:pt idx="4">
                    <c:v>0.020</c:v>
                  </c:pt>
                  <c:pt idx="5">
                    <c:v>0.030</c:v>
                  </c:pt>
                  <c:pt idx="6">
                    <c:v>0.050</c:v>
                  </c:pt>
                  <c:pt idx="7">
                    <c:v>0.080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3C4A5C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3C4A5C"/>
                    </a:solidFill>
                    <a:latin typeface="Arial"/>
                  </a:rPr>
                  <a:t>Score margin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C4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C4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4A5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4E5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58C4B9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 •  GEN-AI USE CASE SUBMISSION  —  LEVEL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Integrated Banking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Support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use cases, one composed system: retrieval, guardrails, secure live data, observability, and integration — verified by real, running code, not description alone.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561795" cy="420624"/>
          </a:xfrm>
          <a:prstGeom prst="roundRect">
            <a:avLst>
              <a:gd name="adj" fmla="val 17391"/>
            </a:avLst>
          </a:prstGeom>
          <a:solidFill>
            <a:srgbClr val="1A3A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5074920"/>
            <a:ext cx="15617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Foundation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48179" y="5074920"/>
            <a:ext cx="1814170" cy="420624"/>
          </a:xfrm>
          <a:prstGeom prst="roundRect">
            <a:avLst>
              <a:gd name="adj" fmla="val 17391"/>
            </a:avLst>
          </a:prstGeom>
          <a:solidFill>
            <a:srgbClr val="1A3A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48179" y="5074920"/>
            <a:ext cx="18141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RAG Assistant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8653" y="5074920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1A3A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08653" y="5074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Secure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00877" y="5074920"/>
            <a:ext cx="1814170" cy="420624"/>
          </a:xfrm>
          <a:prstGeom prst="roundRect">
            <a:avLst>
              <a:gd name="adj" fmla="val 17391"/>
            </a:avLst>
          </a:prstGeom>
          <a:solidFill>
            <a:srgbClr val="1A3A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00877" y="5074920"/>
            <a:ext cx="18141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 Observability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1350" y="5074920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58C4B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61350" y="5074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UC5 Integration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 +  Spring Boot 3.3.4  +  Spring Security  +  React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Five-Use-Case Journey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independently verified before the next composed on top of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7F1F5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80136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219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17520"/>
            <a:ext cx="17556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hashing-trick embeddings, hybrid semantic + keyword search over the policy corpus.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61488" y="160020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7F1F5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26080" y="180136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2219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Assistant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017520"/>
            <a:ext cx="17556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template, injection &amp; unsafe-advice guardrails, citation-grounded extractive generation, tracing.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74336" y="160020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7F1F5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38928" y="180136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22219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138928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Data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5138928" y="3017520"/>
            <a:ext cx="17556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HMAC-SHA256 JWTs, per-request authorization, PII masking on every live account field.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87184" y="160020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7F1F5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51776" y="180136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2219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351776" y="3017520"/>
            <a:ext cx="17556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LRU+TTL caching, latency/cost/token metrics, and a data-driven fix to the retrieval threshold.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00032" y="160020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134E5E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564624" y="180136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8C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564624" y="22219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564624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9564624" y="3017520"/>
            <a:ext cx="17556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 routes intent to RAG or secure tools — the same verified classes, now composed.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Gen-AI Submission — L2 Final Integrated System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UC5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controller, one intent classifier, two verified paths.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60020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06040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15768" y="169164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SupportController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715768" y="2002536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/api/v1/support/ask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6002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4E5E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504688" y="169164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IntentClassifier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504688" y="2002536"/>
            <a:ext cx="2066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— regex routing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1920240"/>
            <a:ext cx="320040" cy="36576"/>
          </a:xfrm>
          <a:prstGeom prst="rect">
            <a:avLst/>
          </a:prstGeom>
          <a:solidFill>
            <a:srgbClr val="9AA7BC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1920240"/>
            <a:ext cx="320040" cy="36576"/>
          </a:xfrm>
          <a:prstGeom prst="rect">
            <a:avLst/>
          </a:prstGeom>
          <a:solidFill>
            <a:srgbClr val="9AA7BC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0" y="2880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58C4B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687568" y="29718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Question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87568" y="3282696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ObservableRagAssistant (UC4) → RagAssistant (UC2) → HybridSearcher (UC1)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03920" y="28803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E0A458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13648" y="297180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Account Data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13648" y="328269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BankingToolService (UC3) → JwtService → PiiMasking → BankingDataStore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0" cy="502920"/>
          </a:xfrm>
          <a:prstGeom prst="line">
            <a:avLst/>
          </a:prstGeom>
          <a:noFill/>
          <a:ln w="19050">
            <a:solidFill>
              <a:srgbClr val="9AA7B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595360" y="2377440"/>
            <a:ext cx="1280160" cy="502920"/>
          </a:xfrm>
          <a:prstGeom prst="line">
            <a:avLst/>
          </a:prstGeom>
          <a:noFill/>
          <a:ln w="19050">
            <a:solidFill>
              <a:srgbClr val="9AA7BC"/>
            </a:solidFill>
            <a:prstDash val="dash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6309360" y="434340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E7F1F5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19088" y="4343400"/>
            <a:ext cx="4809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response — PolicyAnswer / LiveDataAnswer / AccessDenied / Ambiguous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IntegratedBankingAssistant contains zero new business rules. It is a router and response-shape unifier over classes already verified in UC1–UC4 — so composing them adds an integration risk to test, not a new implementation to trust.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sequence + component Mermaid diagrams: diagrams/architecture-diagrams.md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UC5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&amp; Security, Verified Under Integration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protection below fired correctly inside the composed 9-turn session — not just in isolated UC2/UC3 tests.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2F4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58C4B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219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HMAC-SHA256 JWTs (javax.crypto.Mac). Forged and expired tokens cryptographically rejected — verified independently in Python.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2F4E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8745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58C4B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874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2219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check: token subject must match requested customer, or hold ADMIN role. Cross-customer and mismatched-account requests denied.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2F4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745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58C4B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1874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2219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Masking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numbers, mobile numbers, email, and government ID masked before leaving BankingToolService — never seen raw by the controller.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2F4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58C4B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7033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0507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Prompt-Injection Guard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instruction-override / role-hijack attempts before any retrieval cost is spent — confirmed via empty retrieved_chunks in the trace log.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5204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2F4E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37033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58C4B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37033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0507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Unsafe-Advice Guard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investment/financial-advice requests regardless of retrieval score — closes a gap UC1 found where such a query slipped past a threshold-only check.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2F4E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37033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58C4B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7033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UC1/UC4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0507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Confidence Gate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 (0.15) + score-margin guardrail (0.012, UC4-corrected) blocks low-confidence answers instead of guessing.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SelfTests.testCrossCustomerLiveDataRequestIsDenied and related integrated tests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UC5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Finding: Tuning the Retrieval Guardrail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 ran an evidence-based sweep over 6 labeled corpus queries — not a guess.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4160520"/>
          </a:xfrm>
          <a:prstGeom prst="roundRect">
            <a:avLst>
              <a:gd name="adj" fmla="val 2169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1783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8C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0.012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468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default margin threshold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2971800"/>
            <a:ext cx="3246120" cy="0"/>
          </a:xfrm>
          <a:prstGeom prst="line">
            <a:avLst/>
          </a:prstGeom>
          <a:noFill/>
          <a:ln w="12700">
            <a:solidFill>
              <a:srgbClr val="2D4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1089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8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0.010–0.015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zero-error band on this sample — down from UC2's original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0.030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needlessly blocked 1 of 6 valid answers.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6634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the 6 ground-truth labels were themselves wrong at first — caught by manually re-tokenizing the raw corpus, not assumed correct.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ThresholdTuningExperiment.java — L2/UC4; carried into UC5's IntegratedBankingAssistant wiring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UC5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Cost — Real Integrated-Session Numbers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actual 9-turn mixed session run — reports/integrated-demo-run-log.txt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F1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60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hit / 3 miss, TTL+LRU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F1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737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60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= 30 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F1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737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660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answered queries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F1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98280" y="1737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$0.162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cost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660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answered queries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37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policy-question turns are metered — by design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0332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policy-question turns flow through ObservableRagAssistant and are metered. The 5 live-data/ambiguous turns never touch the cache or metrics pipeline — live account data must never be cached or billed as a cacheable RAG answer. Confirmed by SelfTests.testMetricsAccumulateAcrossMixedSessionTraffic.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589520" y="3337560"/>
            <a:ext cx="4023360" cy="2423160"/>
          </a:xfrm>
          <a:prstGeom prst="roundRect">
            <a:avLst>
              <a:gd name="adj" fmla="val 3396"/>
            </a:avLst>
          </a:prstGeom>
          <a:solidFill>
            <a:srgbClr val="134E5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monthly cost projection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~$1,215 / month</a:t>
            </a:r>
            <a:endParaRPr lang="en-US" sz="27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4480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answered queries/day × 30 days, at this session's $0.081/query average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5166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UC4's own isolated ~$2,535/mo projection — same code, different sampled traffic. Sample-size sensitivity UC4's own cost document already flagged.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performance/performance-observability-summary.md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UC5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What's Verified — and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142F4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C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run, not just written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banking-support-core compiled and run: 14/14 SelfTests pass, full 9-turn session executed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Pure-JDK design (no Maven-blocked libraries) chosen specifically so this could be real, not asserted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JWT signing/verification independently re-checked in Python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is a real sweep over real retrieval, with a self-caught labeling error fixed and disclosed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142F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Disclosed limitations, tracked not hidden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11680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service layer not compile-verified — Maven Central blocked in this sandbox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ExtractiveStubLlmClient is not a real generative model — the single most consequential caveat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 margin is small-sample evidence, not production-final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ContextOptimizer built in UC4 but not yet wired into prompt construction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login flow — DevTokenController is dev-only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reproduction steps and full deliverables checklist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UC5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Integrated Banking RAG System</dc:title>
  <dc:subject>PptxGenJS Presentation</dc:subject>
  <dc:creator>RetailCo Gen-AI Submission</dc:creator>
  <cp:lastModifiedBy>RetailCo Gen-AI Submission</cp:lastModifiedBy>
  <cp:revision>1</cp:revision>
  <dcterms:created xsi:type="dcterms:W3CDTF">2026-08-30T19:52:26Z</dcterms:created>
  <dcterms:modified xsi:type="dcterms:W3CDTF">2026-08-30T19:52:26Z</dcterms:modified>
</cp:coreProperties>
</file>